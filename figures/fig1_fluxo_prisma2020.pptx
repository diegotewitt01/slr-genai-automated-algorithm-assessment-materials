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8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08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52132-9F52-D6D2-B46A-EFC821C96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1EDF2D-5DDC-007A-BB68-650C35C87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A1D81-A794-6139-5CD5-198D985AF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1CBEA-EE80-CF5D-497C-AE000E48CC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292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çalho"/>
          <p:cNvSpPr/>
          <p:nvPr/>
        </p:nvSpPr>
        <p:spPr>
          <a:xfrm>
            <a:off x="1097280" y="228600"/>
            <a:ext cx="8943073" cy="457200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 de estudos por meio de bases de dados</a:t>
            </a:r>
            <a:endParaRPr lang="en-US" sz="1400" dirty="0"/>
          </a:p>
        </p:txBody>
      </p:sp>
      <p:sp>
        <p:nvSpPr>
          <p:cNvPr id="3" name="Faixa Identificação"/>
          <p:cNvSpPr/>
          <p:nvPr/>
        </p:nvSpPr>
        <p:spPr>
          <a:xfrm>
            <a:off x="274320" y="868680"/>
            <a:ext cx="594360" cy="169164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Identificação</a:t>
            </a:r>
            <a:endParaRPr lang="en-US" sz="1300" dirty="0"/>
          </a:p>
        </p:txBody>
      </p:sp>
      <p:sp>
        <p:nvSpPr>
          <p:cNvPr id="4" name="Registros identificados"/>
          <p:cNvSpPr/>
          <p:nvPr/>
        </p:nvSpPr>
        <p:spPr>
          <a:xfrm>
            <a:off x="1097280" y="8686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identificados em 12 bases de dados (n = 645)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Digital Library (n = 325)   ·   Scopus (n = 122)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SpringerLink (n = 65)   ·   Web of Science (n = 50)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Village/Compendex (n = 25)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ScienceDirect (n = 25)   ·   SBIE (n = 11)   ·   ERIC (n = 8)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Xplore (n = 5)   ·   WIE+CBIE Estendidos (n = 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RBIE (n = 3)   ·   Periódicos CAPES (n = 1)</a:t>
            </a:r>
            <a:endParaRPr lang="en-US" sz="1400" dirty="0"/>
          </a:p>
        </p:txBody>
      </p:sp>
      <p:sp>
        <p:nvSpPr>
          <p:cNvPr id="5" name="Duplicados removidos"/>
          <p:cNvSpPr/>
          <p:nvPr/>
        </p:nvSpPr>
        <p:spPr>
          <a:xfrm>
            <a:off x="6812280" y="1257300"/>
            <a:ext cx="322807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removidos antes da triagem: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duplicados (n = 99)</a:t>
            </a:r>
            <a:endParaRPr lang="en-US" sz="1400" dirty="0"/>
          </a:p>
        </p:txBody>
      </p:sp>
      <p:sp>
        <p:nvSpPr>
          <p:cNvPr id="6" name="Seta duplicados"/>
          <p:cNvSpPr/>
          <p:nvPr/>
        </p:nvSpPr>
        <p:spPr>
          <a:xfrm>
            <a:off x="6172200" y="171450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7" name="Faixa Triagem"/>
          <p:cNvSpPr/>
          <p:nvPr/>
        </p:nvSpPr>
        <p:spPr>
          <a:xfrm>
            <a:off x="274320" y="2788920"/>
            <a:ext cx="594360" cy="251460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</a:t>
            </a:r>
            <a:endParaRPr lang="en-US" sz="1300" dirty="0"/>
          </a:p>
        </p:txBody>
      </p:sp>
      <p:sp>
        <p:nvSpPr>
          <p:cNvPr id="8" name="Registros triados"/>
          <p:cNvSpPr/>
          <p:nvPr/>
        </p:nvSpPr>
        <p:spPr>
          <a:xfrm>
            <a:off x="1097280" y="27889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triados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546)</a:t>
            </a:r>
            <a:endParaRPr lang="en-US" sz="1400" dirty="0"/>
          </a:p>
        </p:txBody>
      </p:sp>
      <p:sp>
        <p:nvSpPr>
          <p:cNvPr id="9" name="Registros excluídos"/>
          <p:cNvSpPr/>
          <p:nvPr/>
        </p:nvSpPr>
        <p:spPr>
          <a:xfrm>
            <a:off x="6812280" y="2472493"/>
            <a:ext cx="3228072" cy="113096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Registros excluídos pelos critérios 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 e exclusão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503)</a:t>
            </a:r>
            <a:endParaRPr lang="en-US" sz="1400" dirty="0"/>
          </a:p>
        </p:txBody>
      </p:sp>
      <p:sp>
        <p:nvSpPr>
          <p:cNvPr id="10" name="Relatórios buscados"/>
          <p:cNvSpPr/>
          <p:nvPr/>
        </p:nvSpPr>
        <p:spPr>
          <a:xfrm>
            <a:off x="1097280" y="37033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buscados para recuperação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43)</a:t>
            </a:r>
            <a:endParaRPr lang="en-US" sz="1400" dirty="0"/>
          </a:p>
        </p:txBody>
      </p:sp>
      <p:sp>
        <p:nvSpPr>
          <p:cNvPr id="11" name="Relatórios não recuperados"/>
          <p:cNvSpPr/>
          <p:nvPr/>
        </p:nvSpPr>
        <p:spPr>
          <a:xfrm>
            <a:off x="6812280" y="3703320"/>
            <a:ext cx="3228073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não recuperados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0)</a:t>
            </a:r>
            <a:endParaRPr lang="en-US" sz="1400" dirty="0"/>
          </a:p>
        </p:txBody>
      </p:sp>
      <p:sp>
        <p:nvSpPr>
          <p:cNvPr id="12" name="Relatórios avaliados"/>
          <p:cNvSpPr/>
          <p:nvPr/>
        </p:nvSpPr>
        <p:spPr>
          <a:xfrm>
            <a:off x="1097280" y="46177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avaliados quanto à elegibilidade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(avaliação de qualidade e leitura completa)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43)</a:t>
            </a:r>
            <a:endParaRPr lang="en-US" sz="1400" dirty="0"/>
          </a:p>
        </p:txBody>
      </p:sp>
      <p:sp>
        <p:nvSpPr>
          <p:cNvPr id="13" name="Relatórios excluídos"/>
          <p:cNvSpPr/>
          <p:nvPr/>
        </p:nvSpPr>
        <p:spPr>
          <a:xfrm>
            <a:off x="6812280" y="4617719"/>
            <a:ext cx="3228072" cy="892739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 excluídos: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pontuação abaixo da nota de corte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avaliação de qualidade (n = 3)</a:t>
            </a:r>
            <a:endParaRPr lang="en-US" sz="1400" dirty="0"/>
          </a:p>
        </p:txBody>
      </p:sp>
      <p:sp>
        <p:nvSpPr>
          <p:cNvPr id="14" name="Faixa Inclusão"/>
          <p:cNvSpPr/>
          <p:nvPr/>
        </p:nvSpPr>
        <p:spPr>
          <a:xfrm>
            <a:off x="274320" y="5577840"/>
            <a:ext cx="594360" cy="91440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Inclusão</a:t>
            </a:r>
            <a:endParaRPr lang="en-US" sz="1300" dirty="0"/>
          </a:p>
        </p:txBody>
      </p:sp>
      <p:sp>
        <p:nvSpPr>
          <p:cNvPr id="15" name="Estudos incluídos"/>
          <p:cNvSpPr/>
          <p:nvPr/>
        </p:nvSpPr>
        <p:spPr>
          <a:xfrm>
            <a:off x="1097280" y="5577840"/>
            <a:ext cx="5074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Estudos incluídos na revisão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40)</a:t>
            </a:r>
            <a:endParaRPr lang="en-US" sz="1400" dirty="0"/>
          </a:p>
        </p:txBody>
      </p:sp>
      <p:sp>
        <p:nvSpPr>
          <p:cNvPr id="16" name="Seta 1"/>
          <p:cNvSpPr/>
          <p:nvPr/>
        </p:nvSpPr>
        <p:spPr>
          <a:xfrm>
            <a:off x="3634740" y="25603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7" name="Seta 2"/>
          <p:cNvSpPr/>
          <p:nvPr/>
        </p:nvSpPr>
        <p:spPr>
          <a:xfrm>
            <a:off x="3634740" y="34747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8" name="Seta 3"/>
          <p:cNvSpPr/>
          <p:nvPr/>
        </p:nvSpPr>
        <p:spPr>
          <a:xfrm>
            <a:off x="3634740" y="43891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9" name="Seta 4"/>
          <p:cNvSpPr/>
          <p:nvPr/>
        </p:nvSpPr>
        <p:spPr>
          <a:xfrm>
            <a:off x="3634740" y="5303520"/>
            <a:ext cx="0" cy="27432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0" name="Seta exclusão 1"/>
          <p:cNvSpPr/>
          <p:nvPr/>
        </p:nvSpPr>
        <p:spPr>
          <a:xfrm>
            <a:off x="6172200" y="31318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1" name="Seta exclusão 2"/>
          <p:cNvSpPr/>
          <p:nvPr/>
        </p:nvSpPr>
        <p:spPr>
          <a:xfrm>
            <a:off x="6172200" y="40462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2" name="Seta exclusão 3"/>
          <p:cNvSpPr/>
          <p:nvPr/>
        </p:nvSpPr>
        <p:spPr>
          <a:xfrm>
            <a:off x="6172200" y="49606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84A42-37EE-A1B9-1DFD-76E5CA3E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beçalho">
            <a:extLst>
              <a:ext uri="{FF2B5EF4-FFF2-40B4-BE49-F238E27FC236}">
                <a16:creationId xmlns:a16="http://schemas.microsoft.com/office/drawing/2014/main" id="{A9FBE180-80A3-2718-FDCE-9A8BF1D06849}"/>
              </a:ext>
            </a:extLst>
          </p:cNvPr>
          <p:cNvSpPr/>
          <p:nvPr/>
        </p:nvSpPr>
        <p:spPr>
          <a:xfrm>
            <a:off x="1097280" y="228600"/>
            <a:ext cx="8943073" cy="457200"/>
          </a:xfrm>
          <a:prstGeom prst="roundRect">
            <a:avLst>
              <a:gd name="adj" fmla="val 16000"/>
            </a:avLst>
          </a:prstGeom>
          <a:solidFill>
            <a:srgbClr val="00B0F0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 of studies via databases</a:t>
            </a:r>
            <a:endParaRPr lang="en-US" sz="1400" dirty="0"/>
          </a:p>
        </p:txBody>
      </p:sp>
      <p:sp>
        <p:nvSpPr>
          <p:cNvPr id="3" name="Faixa Identificação">
            <a:extLst>
              <a:ext uri="{FF2B5EF4-FFF2-40B4-BE49-F238E27FC236}">
                <a16:creationId xmlns:a16="http://schemas.microsoft.com/office/drawing/2014/main" id="{BDF7DD20-C41F-6ACA-3DC2-3F2FF91EB53E}"/>
              </a:ext>
            </a:extLst>
          </p:cNvPr>
          <p:cNvSpPr/>
          <p:nvPr/>
        </p:nvSpPr>
        <p:spPr>
          <a:xfrm>
            <a:off x="274320" y="868680"/>
            <a:ext cx="594360" cy="169164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300" dirty="0"/>
          </a:p>
        </p:txBody>
      </p:sp>
      <p:sp>
        <p:nvSpPr>
          <p:cNvPr id="4" name="Registros identificados">
            <a:extLst>
              <a:ext uri="{FF2B5EF4-FFF2-40B4-BE49-F238E27FC236}">
                <a16:creationId xmlns:a16="http://schemas.microsoft.com/office/drawing/2014/main" id="{3A0CD415-90FB-F50C-CCA4-62E0CC754D17}"/>
              </a:ext>
            </a:extLst>
          </p:cNvPr>
          <p:cNvSpPr/>
          <p:nvPr/>
        </p:nvSpPr>
        <p:spPr>
          <a:xfrm>
            <a:off x="1097280" y="868680"/>
            <a:ext cx="5074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identified from 12 databases (n = 645)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ACM Digital Library (n = 325)   ·   Scopus (n = 122)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SpringerLink (n = 65)   ·   Web of Science (n = 50)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Village/Compendex (n = 25)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ScienceDirect (n = 25)   ·   SBIE (n = 11)   ·   ERIC (n = 8)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IEEE Xplore (n = 5)   ·   WIE+CBIE extended proceedings (n = 5)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RBIE (n = 3)   ·   Periódicos CAPES (n = 1)</a:t>
            </a:r>
            <a:endParaRPr lang="en-US" sz="1400" dirty="0"/>
          </a:p>
        </p:txBody>
      </p:sp>
      <p:sp>
        <p:nvSpPr>
          <p:cNvPr id="5" name="Duplicados removidos">
            <a:extLst>
              <a:ext uri="{FF2B5EF4-FFF2-40B4-BE49-F238E27FC236}">
                <a16:creationId xmlns:a16="http://schemas.microsoft.com/office/drawing/2014/main" id="{6C825FDA-02D7-D4D5-B400-EB6376F84A6C}"/>
              </a:ext>
            </a:extLst>
          </p:cNvPr>
          <p:cNvSpPr/>
          <p:nvPr/>
        </p:nvSpPr>
        <p:spPr>
          <a:xfrm>
            <a:off x="6812280" y="1257300"/>
            <a:ext cx="3228073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removed before screening: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records (n = 99)</a:t>
            </a:r>
            <a:endParaRPr lang="en-US" sz="1400" dirty="0"/>
          </a:p>
        </p:txBody>
      </p:sp>
      <p:sp>
        <p:nvSpPr>
          <p:cNvPr id="6" name="Seta duplicados">
            <a:extLst>
              <a:ext uri="{FF2B5EF4-FFF2-40B4-BE49-F238E27FC236}">
                <a16:creationId xmlns:a16="http://schemas.microsoft.com/office/drawing/2014/main" id="{A198F524-46B0-7FBC-1F51-9BF41A6EAF2D}"/>
              </a:ext>
            </a:extLst>
          </p:cNvPr>
          <p:cNvSpPr/>
          <p:nvPr/>
        </p:nvSpPr>
        <p:spPr>
          <a:xfrm>
            <a:off x="6172200" y="171450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7" name="Faixa Triagem">
            <a:extLst>
              <a:ext uri="{FF2B5EF4-FFF2-40B4-BE49-F238E27FC236}">
                <a16:creationId xmlns:a16="http://schemas.microsoft.com/office/drawing/2014/main" id="{981BE3C7-5D2F-B82B-E137-FF91173F7A98}"/>
              </a:ext>
            </a:extLst>
          </p:cNvPr>
          <p:cNvSpPr/>
          <p:nvPr/>
        </p:nvSpPr>
        <p:spPr>
          <a:xfrm>
            <a:off x="274320" y="2788920"/>
            <a:ext cx="594360" cy="251460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Screening</a:t>
            </a:r>
            <a:endParaRPr lang="en-US" sz="1300" dirty="0"/>
          </a:p>
        </p:txBody>
      </p:sp>
      <p:sp>
        <p:nvSpPr>
          <p:cNvPr id="8" name="Registros triados">
            <a:extLst>
              <a:ext uri="{FF2B5EF4-FFF2-40B4-BE49-F238E27FC236}">
                <a16:creationId xmlns:a16="http://schemas.microsoft.com/office/drawing/2014/main" id="{8B5A82DA-3258-8A49-3AA1-4656F4D3AA4F}"/>
              </a:ext>
            </a:extLst>
          </p:cNvPr>
          <p:cNvSpPr/>
          <p:nvPr/>
        </p:nvSpPr>
        <p:spPr>
          <a:xfrm>
            <a:off x="1097280" y="27889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screened 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546) </a:t>
            </a:r>
            <a:endParaRPr lang="en-US" sz="1400" dirty="0"/>
          </a:p>
        </p:txBody>
      </p:sp>
      <p:sp>
        <p:nvSpPr>
          <p:cNvPr id="9" name="Registros excluídos">
            <a:extLst>
              <a:ext uri="{FF2B5EF4-FFF2-40B4-BE49-F238E27FC236}">
                <a16:creationId xmlns:a16="http://schemas.microsoft.com/office/drawing/2014/main" id="{C73E4952-54C0-FF48-A2BB-E3F472ABE28B}"/>
              </a:ext>
            </a:extLst>
          </p:cNvPr>
          <p:cNvSpPr/>
          <p:nvPr/>
        </p:nvSpPr>
        <p:spPr>
          <a:xfrm>
            <a:off x="6812280" y="2472493"/>
            <a:ext cx="3228072" cy="1130964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excluded by the inclusion/exclusion criteria 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503)</a:t>
            </a:r>
            <a:endParaRPr lang="en-US" sz="1400" dirty="0"/>
          </a:p>
        </p:txBody>
      </p:sp>
      <p:sp>
        <p:nvSpPr>
          <p:cNvPr id="10" name="Relatórios buscados">
            <a:extLst>
              <a:ext uri="{FF2B5EF4-FFF2-40B4-BE49-F238E27FC236}">
                <a16:creationId xmlns:a16="http://schemas.microsoft.com/office/drawing/2014/main" id="{88647B91-FB37-1D57-4106-D780DFA83D2C}"/>
              </a:ext>
            </a:extLst>
          </p:cNvPr>
          <p:cNvSpPr/>
          <p:nvPr/>
        </p:nvSpPr>
        <p:spPr>
          <a:xfrm>
            <a:off x="1097280" y="37033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sought for retrieval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43)</a:t>
            </a:r>
            <a:endParaRPr lang="en-US" sz="1400" dirty="0"/>
          </a:p>
        </p:txBody>
      </p:sp>
      <p:sp>
        <p:nvSpPr>
          <p:cNvPr id="11" name="Relatórios não recuperados">
            <a:extLst>
              <a:ext uri="{FF2B5EF4-FFF2-40B4-BE49-F238E27FC236}">
                <a16:creationId xmlns:a16="http://schemas.microsoft.com/office/drawing/2014/main" id="{2049896C-0269-FF88-7301-4FCDDA09E005}"/>
              </a:ext>
            </a:extLst>
          </p:cNvPr>
          <p:cNvSpPr/>
          <p:nvPr/>
        </p:nvSpPr>
        <p:spPr>
          <a:xfrm>
            <a:off x="6812280" y="3703320"/>
            <a:ext cx="3228073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not retrieved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0)</a:t>
            </a:r>
            <a:endParaRPr lang="en-US" sz="1400" dirty="0"/>
          </a:p>
        </p:txBody>
      </p:sp>
      <p:sp>
        <p:nvSpPr>
          <p:cNvPr id="12" name="Relatórios avaliados">
            <a:extLst>
              <a:ext uri="{FF2B5EF4-FFF2-40B4-BE49-F238E27FC236}">
                <a16:creationId xmlns:a16="http://schemas.microsoft.com/office/drawing/2014/main" id="{E84D58C8-DA90-212C-3822-63828DAAC834}"/>
              </a:ext>
            </a:extLst>
          </p:cNvPr>
          <p:cNvSpPr/>
          <p:nvPr/>
        </p:nvSpPr>
        <p:spPr>
          <a:xfrm>
            <a:off x="1097280" y="4617720"/>
            <a:ext cx="5074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assessed for eligibility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(quality assessment and full-text reading)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43)</a:t>
            </a:r>
            <a:endParaRPr lang="en-US" sz="1400" dirty="0"/>
          </a:p>
        </p:txBody>
      </p:sp>
      <p:sp>
        <p:nvSpPr>
          <p:cNvPr id="13" name="Relatórios excluídos">
            <a:extLst>
              <a:ext uri="{FF2B5EF4-FFF2-40B4-BE49-F238E27FC236}">
                <a16:creationId xmlns:a16="http://schemas.microsoft.com/office/drawing/2014/main" id="{410257E3-B7C2-EC34-6D76-BB5F4DC87B54}"/>
              </a:ext>
            </a:extLst>
          </p:cNvPr>
          <p:cNvSpPr/>
          <p:nvPr/>
        </p:nvSpPr>
        <p:spPr>
          <a:xfrm>
            <a:off x="6812280" y="4617719"/>
            <a:ext cx="3228072" cy="892739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excluded: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below the quality assessment cut-off (n = 3)</a:t>
            </a:r>
            <a:endParaRPr lang="en-US" sz="1400" dirty="0"/>
          </a:p>
        </p:txBody>
      </p:sp>
      <p:sp>
        <p:nvSpPr>
          <p:cNvPr id="14" name="Faixa Inclusão">
            <a:extLst>
              <a:ext uri="{FF2B5EF4-FFF2-40B4-BE49-F238E27FC236}">
                <a16:creationId xmlns:a16="http://schemas.microsoft.com/office/drawing/2014/main" id="{EA236E14-C172-64A5-7413-69F2F4B59212}"/>
              </a:ext>
            </a:extLst>
          </p:cNvPr>
          <p:cNvSpPr/>
          <p:nvPr/>
        </p:nvSpPr>
        <p:spPr>
          <a:xfrm>
            <a:off x="274320" y="5577840"/>
            <a:ext cx="594360" cy="914400"/>
          </a:xfrm>
          <a:prstGeom prst="roundRect">
            <a:avLst>
              <a:gd name="adj" fmla="val 12308"/>
            </a:avLst>
          </a:prstGeom>
          <a:solidFill>
            <a:srgbClr val="00B0F0"/>
          </a:solidFill>
          <a:ln w="6350">
            <a:solidFill>
              <a:srgbClr val="9DC3E6"/>
            </a:solidFill>
          </a:ln>
        </p:spPr>
        <p:txBody>
          <a:bodyPr vert="vert270"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</a:t>
            </a:r>
            <a:endParaRPr lang="en-US" sz="1300" dirty="0"/>
          </a:p>
        </p:txBody>
      </p:sp>
      <p:sp>
        <p:nvSpPr>
          <p:cNvPr id="15" name="Estudos incluídos">
            <a:extLst>
              <a:ext uri="{FF2B5EF4-FFF2-40B4-BE49-F238E27FC236}">
                <a16:creationId xmlns:a16="http://schemas.microsoft.com/office/drawing/2014/main" id="{E135C15D-478C-E27A-DD38-4B5EA29B03EA}"/>
              </a:ext>
            </a:extLst>
          </p:cNvPr>
          <p:cNvSpPr/>
          <p:nvPr/>
        </p:nvSpPr>
        <p:spPr>
          <a:xfrm>
            <a:off x="1097280" y="5577840"/>
            <a:ext cx="50749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</p:spPr>
        <p:txBody>
          <a:bodyPr wrap="square" lIns="50800" tIns="101600" rIns="1016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Studies included in review 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 = 40)</a:t>
            </a:r>
            <a:endParaRPr lang="en-US" sz="1400" dirty="0"/>
          </a:p>
        </p:txBody>
      </p:sp>
      <p:sp>
        <p:nvSpPr>
          <p:cNvPr id="16" name="Seta 1">
            <a:extLst>
              <a:ext uri="{FF2B5EF4-FFF2-40B4-BE49-F238E27FC236}">
                <a16:creationId xmlns:a16="http://schemas.microsoft.com/office/drawing/2014/main" id="{73E30A8E-020B-DB02-E804-6A66F1DF1855}"/>
              </a:ext>
            </a:extLst>
          </p:cNvPr>
          <p:cNvSpPr/>
          <p:nvPr/>
        </p:nvSpPr>
        <p:spPr>
          <a:xfrm>
            <a:off x="3634740" y="25603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7" name="Seta 2">
            <a:extLst>
              <a:ext uri="{FF2B5EF4-FFF2-40B4-BE49-F238E27FC236}">
                <a16:creationId xmlns:a16="http://schemas.microsoft.com/office/drawing/2014/main" id="{7C7E7285-A4D5-EE73-3F14-45886517E705}"/>
              </a:ext>
            </a:extLst>
          </p:cNvPr>
          <p:cNvSpPr/>
          <p:nvPr/>
        </p:nvSpPr>
        <p:spPr>
          <a:xfrm>
            <a:off x="3634740" y="34747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8" name="Seta 3">
            <a:extLst>
              <a:ext uri="{FF2B5EF4-FFF2-40B4-BE49-F238E27FC236}">
                <a16:creationId xmlns:a16="http://schemas.microsoft.com/office/drawing/2014/main" id="{C9B37FF1-44B7-2258-04B8-B0BEC97C3408}"/>
              </a:ext>
            </a:extLst>
          </p:cNvPr>
          <p:cNvSpPr/>
          <p:nvPr/>
        </p:nvSpPr>
        <p:spPr>
          <a:xfrm>
            <a:off x="3634740" y="4389120"/>
            <a:ext cx="0" cy="22860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19" name="Seta 4">
            <a:extLst>
              <a:ext uri="{FF2B5EF4-FFF2-40B4-BE49-F238E27FC236}">
                <a16:creationId xmlns:a16="http://schemas.microsoft.com/office/drawing/2014/main" id="{872EE21B-4263-E1BF-7D44-7E3172538186}"/>
              </a:ext>
            </a:extLst>
          </p:cNvPr>
          <p:cNvSpPr/>
          <p:nvPr/>
        </p:nvSpPr>
        <p:spPr>
          <a:xfrm>
            <a:off x="3634740" y="5303520"/>
            <a:ext cx="0" cy="27432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0" name="Seta exclusão 1">
            <a:extLst>
              <a:ext uri="{FF2B5EF4-FFF2-40B4-BE49-F238E27FC236}">
                <a16:creationId xmlns:a16="http://schemas.microsoft.com/office/drawing/2014/main" id="{BB5492D6-03D9-F6F4-7414-48B6F7260DFE}"/>
              </a:ext>
            </a:extLst>
          </p:cNvPr>
          <p:cNvSpPr/>
          <p:nvPr/>
        </p:nvSpPr>
        <p:spPr>
          <a:xfrm>
            <a:off x="6172200" y="31318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1" name="Seta exclusão 2">
            <a:extLst>
              <a:ext uri="{FF2B5EF4-FFF2-40B4-BE49-F238E27FC236}">
                <a16:creationId xmlns:a16="http://schemas.microsoft.com/office/drawing/2014/main" id="{DEA26147-A9E3-E25D-2FA3-BD4A3C9DF6F8}"/>
              </a:ext>
            </a:extLst>
          </p:cNvPr>
          <p:cNvSpPr/>
          <p:nvPr/>
        </p:nvSpPr>
        <p:spPr>
          <a:xfrm>
            <a:off x="6172200" y="40462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  <p:sp>
        <p:nvSpPr>
          <p:cNvPr id="22" name="Seta exclusão 3">
            <a:extLst>
              <a:ext uri="{FF2B5EF4-FFF2-40B4-BE49-F238E27FC236}">
                <a16:creationId xmlns:a16="http://schemas.microsoft.com/office/drawing/2014/main" id="{2EEADAF5-D475-7AA0-4206-8BC3475A2D65}"/>
              </a:ext>
            </a:extLst>
          </p:cNvPr>
          <p:cNvSpPr/>
          <p:nvPr/>
        </p:nvSpPr>
        <p:spPr>
          <a:xfrm>
            <a:off x="6172200" y="4960620"/>
            <a:ext cx="640080" cy="0"/>
          </a:xfrm>
          <a:prstGeom prst="line">
            <a:avLst/>
          </a:prstGeom>
          <a:noFill/>
          <a:ln w="15875">
            <a:solidFill>
              <a:srgbClr val="222222"/>
            </a:solidFill>
            <a:prstDash val="solid"/>
            <a:tailEnd type="triangle"/>
          </a:ln>
        </p:spPr>
        <p:txBody>
          <a:bodyPr/>
          <a:lstStyle/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107100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408</Words>
  <Application>Microsoft Office PowerPoint</Application>
  <PresentationFormat>Widescreen</PresentationFormat>
  <Paragraphs>60</Paragraphs>
  <Slides>2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4" baseType="lpstr">
      <vt:lpstr>Arial</vt:lpstr>
      <vt:lpstr>Office Theme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Figura 1 - Fluxograma PRISMA 2020</dc:title>
  <dc:subject>PptxGenJS Presentation</dc:subject>
  <dc:creator>PptxGenJS</dc:creator>
  <cp:lastModifiedBy>Diego Teixeira Witt</cp:lastModifiedBy>
  <cp:revision>3</cp:revision>
  <dcterms:created xsi:type="dcterms:W3CDTF">2026-10-14T18:46:31Z</dcterms:created>
  <dcterms:modified xsi:type="dcterms:W3CDTF">2026-10-27T17:26:53Z</dcterms:modified>
</cp:coreProperties>
</file>